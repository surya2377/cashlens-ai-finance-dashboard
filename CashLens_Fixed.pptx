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45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176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306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ash1ens.netlify.app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7772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685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CashLens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686800" y="685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300" dirty="0">
                <a:solidFill>
                  <a:srgbClr val="9C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04 /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8059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CashLens</a:t>
            </a:r>
            <a:endParaRPr lang="en-US" sz="9600" dirty="0"/>
          </a:p>
        </p:txBody>
      </p:sp>
      <p:sp>
        <p:nvSpPr>
          <p:cNvPr id="8" name="Text 5"/>
          <p:cNvSpPr/>
          <p:nvPr/>
        </p:nvSpPr>
        <p:spPr>
          <a:xfrm>
            <a:off x="640080" y="4069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 from your bank statements.</a:t>
            </a:r>
            <a:endParaRPr lang="en-US" sz="20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676B59D-7B42-EB93-4327-31A61A811CB1}"/>
              </a:ext>
            </a:extLst>
          </p:cNvPr>
          <p:cNvGrpSpPr/>
          <p:nvPr/>
        </p:nvGrpSpPr>
        <p:grpSpPr>
          <a:xfrm>
            <a:off x="640080" y="4800600"/>
            <a:ext cx="10789920" cy="1463040"/>
            <a:chOff x="640080" y="4800600"/>
            <a:chExt cx="10789920" cy="1463040"/>
          </a:xfrm>
        </p:grpSpPr>
        <p:sp>
          <p:nvSpPr>
            <p:cNvPr id="9" name="Shape 6"/>
            <p:cNvSpPr/>
            <p:nvPr/>
          </p:nvSpPr>
          <p:spPr>
            <a:xfrm>
              <a:off x="640080" y="4800600"/>
              <a:ext cx="1371600" cy="0"/>
            </a:xfrm>
            <a:prstGeom prst="line">
              <a:avLst/>
            </a:prstGeom>
            <a:noFill/>
            <a:ln w="25400">
              <a:solidFill>
                <a:srgbClr val="34D3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7"/>
            <p:cNvSpPr/>
            <p:nvPr/>
          </p:nvSpPr>
          <p:spPr>
            <a:xfrm>
              <a:off x="640080" y="493776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kern="0" spc="600" dirty="0">
                  <a:solidFill>
                    <a:srgbClr val="34D3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TEAM</a:t>
              </a:r>
              <a:endParaRPr lang="en-US" sz="160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640080" y="5495544"/>
              <a:ext cx="128016" cy="128016"/>
            </a:xfrm>
            <a:prstGeom prst="ellipse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914400" y="5349240"/>
              <a:ext cx="5029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Aditya Origanti</a:t>
              </a:r>
              <a:endParaRPr lang="en-US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6126480" y="5495544"/>
              <a:ext cx="128016" cy="128016"/>
            </a:xfrm>
            <a:prstGeom prst="ellipse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1"/>
            <p:cNvSpPr/>
            <p:nvPr/>
          </p:nvSpPr>
          <p:spPr>
            <a:xfrm>
              <a:off x="6400800" y="5349240"/>
              <a:ext cx="5029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Kishore Rajavel Kohilavani</a:t>
              </a:r>
              <a:endParaRPr lang="en-US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640080" y="5998464"/>
              <a:ext cx="128016" cy="128016"/>
            </a:xfrm>
            <a:prstGeom prst="ellipse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/>
            <p:cNvSpPr/>
            <p:nvPr/>
          </p:nvSpPr>
          <p:spPr>
            <a:xfrm>
              <a:off x="914400" y="5852160"/>
              <a:ext cx="5029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Surya Prasath Sivakumar Karthika</a:t>
              </a:r>
              <a:endParaRPr lang="en-US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6126480" y="5998464"/>
              <a:ext cx="128016" cy="128016"/>
            </a:xfrm>
            <a:prstGeom prst="ellipse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5"/>
            <p:cNvSpPr/>
            <p:nvPr/>
          </p:nvSpPr>
          <p:spPr>
            <a:xfrm>
              <a:off x="6400800" y="5852160"/>
              <a:ext cx="5029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Rushikesh Kothawade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data without financial understanding.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receive detailed bank statements every month — but they're long, unstructured, and difficult to interpret. There's a gap between having financial data and actually understanding and acting on it.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5349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73152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3429000"/>
            <a:ext cx="685800" cy="68580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58444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3291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&amp; unstructured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828800" y="37307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span dozens of pages of raw transaction lines.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3017520"/>
            <a:ext cx="5349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17920" y="3017520"/>
            <a:ext cx="73152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537960" y="3429000"/>
            <a:ext cx="685800" cy="68580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358444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06640" y="3291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category clarity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406640" y="37307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can't tell how much they spend on food, transport, or bills.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" y="4709160"/>
            <a:ext cx="5349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40080" y="4709160"/>
            <a:ext cx="73152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60120" y="5120640"/>
            <a:ext cx="685800" cy="68580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527608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49834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subscriptions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828800" y="542239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recurring charges quietly drain accounts each month.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217920" y="4709160"/>
            <a:ext cx="5349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217920" y="4709160"/>
            <a:ext cx="73152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537960" y="5120640"/>
            <a:ext cx="685800" cy="68580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8" y="5276088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06640" y="49834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&amp; shallow apps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7406640" y="542239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trackers need manual input and only give basic summaries.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CashLens turns raw statements into clear insights.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PDF, CSV, or TXT bank statement. CashLens uses AI to extract every transaction, auto-categorize spending, surface subscriptions, and explain why you're overspending — with personalized recommendations to improve.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3749040"/>
            <a:ext cx="777240" cy="77724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9319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4663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Extraction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5074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PDF/CSV/TXT statements and pulls every transaction into structured JSON.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502152" y="310896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02152" y="310896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730752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730752" y="3749040"/>
            <a:ext cx="777240" cy="77724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393192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30752" y="4663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Auto-Categorize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730752" y="5074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every transaction — Groceries, Bills, Subscriptions, and more.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364224" y="310896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364224" y="310896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592824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592824" y="3749040"/>
            <a:ext cx="777240" cy="77724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704" y="393192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92824" y="4663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Detection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592824" y="5074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recurring charges, unusual spend, and slow leaks adding up over time.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9226296" y="310896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9226296" y="310896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9454896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9454896" y="3749040"/>
            <a:ext cx="777240" cy="77724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7776" y="3931920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454896" y="4663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Actionable Insights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9454896" y="5074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you're overspending and suggests concrete ways to improve.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bank statement to budget breakthrough — in seconds.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SEE IT LIVE</a:t>
            </a:r>
            <a:endParaRPr lang="en-US" sz="32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FB77E4D-68AE-E138-C44A-2AC35E1678E9}"/>
              </a:ext>
            </a:extLst>
          </p:cNvPr>
          <p:cNvGrpSpPr/>
          <p:nvPr/>
        </p:nvGrpSpPr>
        <p:grpSpPr>
          <a:xfrm>
            <a:off x="540738" y="2290572"/>
            <a:ext cx="11110524" cy="2372868"/>
            <a:chOff x="1108428" y="3456432"/>
            <a:chExt cx="9944664" cy="1664208"/>
          </a:xfrm>
        </p:grpSpPr>
        <p:sp>
          <p:nvSpPr>
            <p:cNvPr id="27" name="Shape 22"/>
            <p:cNvSpPr/>
            <p:nvPr/>
          </p:nvSpPr>
          <p:spPr>
            <a:xfrm flipV="1">
              <a:off x="1108428" y="3456432"/>
              <a:ext cx="9944664" cy="1664208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2"/>
            <p:cNvSpPr/>
            <p:nvPr/>
          </p:nvSpPr>
          <p:spPr>
            <a:xfrm>
              <a:off x="1592058" y="3657600"/>
              <a:ext cx="864622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3"/>
                </a:rPr>
                <a:t>https://cash1ens.netlify.app/</a:t>
              </a: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
Click to explore the live dashboard and see all features in action.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Text 25"/>
          <p:cNvSpPr/>
          <p:nvPr/>
        </p:nvSpPr>
        <p:spPr>
          <a:xfrm>
            <a:off x="9454896" y="4663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9454896" y="5074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a modern, fast, AI-first stack.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client-side architecture — no backend required. Statements are processed in the browser and sent directly to the LLM for extraction and analysis.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3246120"/>
            <a:ext cx="777240" cy="7772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40156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28800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hooks-based UI with reactive state.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89120" y="292608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17720" y="3246120"/>
            <a:ext cx="777240" cy="7772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40156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 8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57784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577840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dev server and bundling.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38160" y="292608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366760" y="3246120"/>
            <a:ext cx="777240" cy="7772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340156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2688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Gemini 2.5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32688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9326880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AI model for transaction parsing &amp; insights.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40080" y="461772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68680" y="4937760"/>
            <a:ext cx="777240" cy="7772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5093208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828800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PDF.js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828800" y="5212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828800" y="5486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extraction of text from bank statement PDFs.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4389120" y="461772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617720" y="4937760"/>
            <a:ext cx="777240" cy="7772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5093208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577840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Recharts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5577840" y="5212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5577840" y="5486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 for spending breakdowns and trends.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8138160" y="461772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8366760" y="4937760"/>
            <a:ext cx="777240" cy="7772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2208" y="5093208"/>
            <a:ext cx="457200" cy="4572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326880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Lucide + ESLint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9326880" y="5212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Tooling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9326880" y="5486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library and code quality enforcement.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UNIQUE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another expense tracker.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CashLens isn't a budgeting app with AI bolted on — it's an AI-first analyzer that explains your money, not just summarizes it. Five things set it apart.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10881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7315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999232"/>
            <a:ext cx="411480" cy="41148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090672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9535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Context-aware AI reasoning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394960" y="29535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'why' behind spending — not just totals. Explains overspending patterns in plain English.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593592"/>
            <a:ext cx="10881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0080" y="3593592"/>
            <a:ext cx="7315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68680" y="3712464"/>
            <a:ext cx="411480" cy="41148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803904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36667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insights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394960" y="36667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follow-up questions about your statement and get instant, grounded answers from your own data.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" y="4306824"/>
            <a:ext cx="10881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40080" y="4306824"/>
            <a:ext cx="7315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68680" y="4425696"/>
            <a:ext cx="411480" cy="41148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517136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43799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client-side parsing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394960" y="437997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statements never touch a server. PDFs are processed in your browser — privacy by architecture.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40080" y="5020056"/>
            <a:ext cx="10881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40080" y="5020056"/>
            <a:ext cx="7315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868680" y="5138928"/>
            <a:ext cx="411480" cy="41148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230368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63040" y="5093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AI processing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394960" y="50932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insights powered by Google Gemini — analysis completes in seconds, not minutes.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640080" y="5733288"/>
            <a:ext cx="10881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40080" y="5733288"/>
            <a:ext cx="7315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868680" y="5852160"/>
            <a:ext cx="411480" cy="41148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5943600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463040" y="5806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file upload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5394960" y="5806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any PDF, CSV, or TXT statement — no bank logins or API integrations required.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CashLens is heading next.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roadmap of features and improvements planned across the next quarters — from deeper AI capabilities to broader platform reach.</a:t>
            </a:r>
            <a:endParaRPr lang="en-US" sz="14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A0CC705-1592-8AC2-25CE-144964F5A4BC}"/>
              </a:ext>
            </a:extLst>
          </p:cNvPr>
          <p:cNvGrpSpPr/>
          <p:nvPr/>
        </p:nvGrpSpPr>
        <p:grpSpPr>
          <a:xfrm>
            <a:off x="640079" y="2651760"/>
            <a:ext cx="4295175" cy="1882662"/>
            <a:chOff x="868680" y="2912364"/>
            <a:chExt cx="3520440" cy="1508760"/>
          </a:xfrm>
        </p:grpSpPr>
        <p:sp>
          <p:nvSpPr>
            <p:cNvPr id="5" name="Shape 3"/>
            <p:cNvSpPr/>
            <p:nvPr/>
          </p:nvSpPr>
          <p:spPr>
            <a:xfrm>
              <a:off x="868680" y="2912364"/>
              <a:ext cx="3520440" cy="1508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27000" dist="254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1097280" y="3140964"/>
              <a:ext cx="548640" cy="548640"/>
            </a:xfrm>
            <a:prstGeom prst="ellipse">
              <a:avLst/>
            </a:prstGeom>
            <a:solidFill>
              <a:srgbClr val="E6F7F1"/>
            </a:solidFill>
            <a:ln w="12700">
              <a:solidFill>
                <a:srgbClr val="E6F7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5296" y="3268980"/>
              <a:ext cx="292608" cy="292608"/>
            </a:xfrm>
            <a:prstGeom prst="rect">
              <a:avLst/>
            </a:prstGeom>
          </p:spPr>
        </p:pic>
        <p:sp>
          <p:nvSpPr>
            <p:cNvPr id="10" name="Text 7"/>
            <p:cNvSpPr/>
            <p:nvPr/>
          </p:nvSpPr>
          <p:spPr>
            <a:xfrm>
              <a:off x="1074419" y="3690924"/>
              <a:ext cx="3108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3D3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Cash Transaction Support</a:t>
              </a:r>
              <a:endParaRPr lang="en-US" sz="14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074419" y="3998717"/>
              <a:ext cx="31089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Manual entry for cash spending to track complete financial picture beyond bank statements.</a:t>
              </a:r>
              <a:endParaRPr lang="en-US" sz="12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1F98B62-9B79-DF6A-9017-2416F7938128}"/>
              </a:ext>
            </a:extLst>
          </p:cNvPr>
          <p:cNvGrpSpPr/>
          <p:nvPr/>
        </p:nvGrpSpPr>
        <p:grpSpPr>
          <a:xfrm>
            <a:off x="5715312" y="2649130"/>
            <a:ext cx="4295175" cy="1849718"/>
            <a:chOff x="4389120" y="2926080"/>
            <a:chExt cx="3520440" cy="1508760"/>
          </a:xfrm>
        </p:grpSpPr>
        <p:sp>
          <p:nvSpPr>
            <p:cNvPr id="12" name="Shape 9"/>
            <p:cNvSpPr/>
            <p:nvPr/>
          </p:nvSpPr>
          <p:spPr>
            <a:xfrm>
              <a:off x="4389120" y="2926080"/>
              <a:ext cx="3520440" cy="1508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27000" dist="254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0"/>
            <p:cNvSpPr/>
            <p:nvPr/>
          </p:nvSpPr>
          <p:spPr>
            <a:xfrm>
              <a:off x="4617720" y="3154680"/>
              <a:ext cx="548640" cy="548640"/>
            </a:xfrm>
            <a:prstGeom prst="ellipse">
              <a:avLst/>
            </a:prstGeom>
            <a:solidFill>
              <a:srgbClr val="E6F7F1"/>
            </a:solidFill>
            <a:ln w="12700">
              <a:solidFill>
                <a:srgbClr val="E6F7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4" name="Image 1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45736" y="3282696"/>
              <a:ext cx="292608" cy="292608"/>
            </a:xfrm>
            <a:prstGeom prst="rect">
              <a:avLst/>
            </a:prstGeom>
          </p:spPr>
        </p:pic>
        <p:sp>
          <p:nvSpPr>
            <p:cNvPr id="17" name="Text 13"/>
            <p:cNvSpPr/>
            <p:nvPr/>
          </p:nvSpPr>
          <p:spPr>
            <a:xfrm>
              <a:off x="4617718" y="3660020"/>
              <a:ext cx="3108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3D3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Native mobile apps</a:t>
              </a:r>
              <a:endParaRPr lang="en-US" sz="1400" dirty="0"/>
            </a:p>
          </p:txBody>
        </p:sp>
        <p:sp>
          <p:nvSpPr>
            <p:cNvPr id="18" name="Text 14"/>
            <p:cNvSpPr/>
            <p:nvPr/>
          </p:nvSpPr>
          <p:spPr>
            <a:xfrm>
              <a:off x="4617718" y="3945280"/>
              <a:ext cx="31089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iOS and Android apps with offline-first sync.</a:t>
              </a:r>
              <a:endParaRPr lang="en-US" sz="12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4FF1BAD-6881-1AF2-A098-A76B90ABE3DF}"/>
              </a:ext>
            </a:extLst>
          </p:cNvPr>
          <p:cNvGrpSpPr/>
          <p:nvPr/>
        </p:nvGrpSpPr>
        <p:grpSpPr>
          <a:xfrm>
            <a:off x="5715312" y="4806827"/>
            <a:ext cx="4295174" cy="1674884"/>
            <a:chOff x="8138160" y="2926080"/>
            <a:chExt cx="3520440" cy="1508760"/>
          </a:xfrm>
        </p:grpSpPr>
        <p:sp>
          <p:nvSpPr>
            <p:cNvPr id="19" name="Shape 15"/>
            <p:cNvSpPr/>
            <p:nvPr/>
          </p:nvSpPr>
          <p:spPr>
            <a:xfrm>
              <a:off x="8138160" y="2926080"/>
              <a:ext cx="3520440" cy="1508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27000" dist="254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6"/>
            <p:cNvSpPr/>
            <p:nvPr/>
          </p:nvSpPr>
          <p:spPr>
            <a:xfrm>
              <a:off x="8366760" y="3154680"/>
              <a:ext cx="548640" cy="548640"/>
            </a:xfrm>
            <a:prstGeom prst="ellipse">
              <a:avLst/>
            </a:prstGeom>
            <a:solidFill>
              <a:srgbClr val="E6F7F1"/>
            </a:solidFill>
            <a:ln w="12700">
              <a:solidFill>
                <a:srgbClr val="E6F7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94776" y="3282696"/>
              <a:ext cx="292608" cy="292608"/>
            </a:xfrm>
            <a:prstGeom prst="rect">
              <a:avLst/>
            </a:prstGeom>
          </p:spPr>
        </p:pic>
        <p:sp>
          <p:nvSpPr>
            <p:cNvPr id="24" name="Text 19"/>
            <p:cNvSpPr/>
            <p:nvPr/>
          </p:nvSpPr>
          <p:spPr>
            <a:xfrm>
              <a:off x="8366759" y="3647978"/>
              <a:ext cx="3108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3D3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Smart Bill Negotiation</a:t>
              </a:r>
              <a:endParaRPr lang="en-US" sz="1400" dirty="0"/>
            </a:p>
          </p:txBody>
        </p:sp>
        <p:sp>
          <p:nvSpPr>
            <p:cNvPr id="25" name="Text 20"/>
            <p:cNvSpPr/>
            <p:nvPr/>
          </p:nvSpPr>
          <p:spPr>
            <a:xfrm>
              <a:off x="8366759" y="3998562"/>
              <a:ext cx="31089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identifies overpriced subscriptions and generates negotiation templates to lower bills.</a:t>
              </a:r>
              <a:endParaRPr lang="en-US" sz="120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0FD83CA-ADDE-AAC8-40CE-077185BE0469}"/>
              </a:ext>
            </a:extLst>
          </p:cNvPr>
          <p:cNvGrpSpPr/>
          <p:nvPr/>
        </p:nvGrpSpPr>
        <p:grpSpPr>
          <a:xfrm>
            <a:off x="640079" y="4754880"/>
            <a:ext cx="4295174" cy="1737360"/>
            <a:chOff x="640080" y="4617720"/>
            <a:chExt cx="3520440" cy="1508760"/>
          </a:xfrm>
        </p:grpSpPr>
        <p:sp>
          <p:nvSpPr>
            <p:cNvPr id="26" name="Shape 21"/>
            <p:cNvSpPr/>
            <p:nvPr/>
          </p:nvSpPr>
          <p:spPr>
            <a:xfrm>
              <a:off x="640080" y="4617720"/>
              <a:ext cx="3520440" cy="1508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27000" dist="254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2"/>
            <p:cNvSpPr/>
            <p:nvPr/>
          </p:nvSpPr>
          <p:spPr>
            <a:xfrm>
              <a:off x="868680" y="4846320"/>
              <a:ext cx="548640" cy="548640"/>
            </a:xfrm>
            <a:prstGeom prst="ellipse">
              <a:avLst/>
            </a:prstGeom>
            <a:solidFill>
              <a:srgbClr val="E6F7F1"/>
            </a:solidFill>
            <a:ln w="12700">
              <a:solidFill>
                <a:srgbClr val="E6F7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8" name="Image 3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96696" y="4974336"/>
              <a:ext cx="292608" cy="292608"/>
            </a:xfrm>
            <a:prstGeom prst="rect">
              <a:avLst/>
            </a:prstGeom>
          </p:spPr>
        </p:pic>
        <p:sp>
          <p:nvSpPr>
            <p:cNvPr id="31" name="Text 25"/>
            <p:cNvSpPr/>
            <p:nvPr/>
          </p:nvSpPr>
          <p:spPr>
            <a:xfrm>
              <a:off x="868679" y="5377876"/>
              <a:ext cx="3108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3D3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Multi-account support</a:t>
              </a:r>
              <a:endParaRPr lang="en-US" sz="1400" dirty="0"/>
            </a:p>
          </p:txBody>
        </p:sp>
        <p:sp>
          <p:nvSpPr>
            <p:cNvPr id="32" name="Text 26"/>
            <p:cNvSpPr/>
            <p:nvPr/>
          </p:nvSpPr>
          <p:spPr>
            <a:xfrm>
              <a:off x="868678" y="5693647"/>
              <a:ext cx="31089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 joint, family, or business accounts side-by-side.</a:t>
              </a:r>
              <a:endParaRPr lang="en-US" sz="1200" dirty="0"/>
            </a:p>
          </p:txBody>
        </p:sp>
      </p:grpSp>
      <p:sp>
        <p:nvSpPr>
          <p:cNvPr id="38" name="Text 31"/>
          <p:cNvSpPr/>
          <p:nvPr/>
        </p:nvSpPr>
        <p:spPr>
          <a:xfrm>
            <a:off x="4617720" y="5486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4617720" y="58247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8366760" y="5486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6" name="Text 38"/>
          <p:cNvSpPr/>
          <p:nvPr/>
        </p:nvSpPr>
        <p:spPr>
          <a:xfrm>
            <a:off x="8366760" y="58247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772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685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1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8686800" y="685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300" dirty="0">
                <a:solidFill>
                  <a:srgbClr val="9C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04 /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5146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chemeClr val="accent6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CashLens</a:t>
            </a:r>
            <a:endParaRPr lang="en-US" sz="9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4069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640080" y="4800600"/>
            <a:ext cx="137160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4008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508087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493619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caffeine and sheer determination.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0" y="5349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5852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0" y="5852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655</Words>
  <Application>Microsoft Macintosh PowerPoint</Application>
  <PresentationFormat>Widescreen</PresentationFormat>
  <Paragraphs>103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CashLens</dc:title>
  <dc:subject>PptxGenJS Presentation</dc:subject>
  <dc:creator>CashLens</dc:creator>
  <cp:lastModifiedBy>Surya Prasath Sivakumar Karthika [mjgw0473]</cp:lastModifiedBy>
  <cp:revision>6</cp:revision>
  <dcterms:created xsi:type="dcterms:W3CDTF">2026-04-25T07:20:13Z</dcterms:created>
  <dcterms:modified xsi:type="dcterms:W3CDTF">2026-04-25T13:46:54Z</dcterms:modified>
</cp:coreProperties>
</file>